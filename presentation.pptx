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y="6858000" cx="9144000"/>
  <p:notesSz cx="6858000" cy="9144000"/>
  <p:embeddedFontLst>
    <p:embeddedFont>
      <p:font typeface="Gill Sans"/>
      <p:regular r:id="rId29"/>
      <p:bold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8BE908-93E5-4F32-A6F3-A30CF47D6A0F}">
  <a:tblStyle styleId="{B38BE908-93E5-4F32-A6F3-A30CF47D6A0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font" Target="fonts/GillSans-regular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0" Type="http://schemas.openxmlformats.org/officeDocument/2006/relationships/font" Target="fonts/GillSans-bold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a1c26d453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g3a1c26d453a_0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c26d453a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g3a1c26d453a_0_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102240" y="2386744"/>
            <a:ext cx="693952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500"/>
              <a:buFont typeface="Gill Sans"/>
              <a:buNone/>
              <a:defRPr sz="35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2021396" y="4352544"/>
            <a:ext cx="5101209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2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ctrTitle"/>
          </p:nvPr>
        </p:nvSpPr>
        <p:spPr>
          <a:xfrm>
            <a:off x="1102240" y="2386744"/>
            <a:ext cx="693952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500"/>
              <a:buFont typeface="Gill Sans"/>
              <a:buNone/>
              <a:defRPr sz="35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subTitle"/>
          </p:nvPr>
        </p:nvSpPr>
        <p:spPr>
          <a:xfrm>
            <a:off x="2021396" y="4352544"/>
            <a:ext cx="5101209" cy="12398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32" name="Google Shape;32;p5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1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type="title"/>
          </p:nvPr>
        </p:nvSpPr>
        <p:spPr>
          <a:xfrm>
            <a:off x="1106424" y="2386744"/>
            <a:ext cx="6940296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500"/>
              <a:buFont typeface="Gill Sans"/>
              <a:buNone/>
              <a:defRPr sz="35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" type="body"/>
          </p:nvPr>
        </p:nvSpPr>
        <p:spPr>
          <a:xfrm>
            <a:off x="2021396" y="4352465"/>
            <a:ext cx="5101209" cy="1265082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body"/>
          </p:nvPr>
        </p:nvSpPr>
        <p:spPr>
          <a:xfrm>
            <a:off x="1102239" y="2638044"/>
            <a:ext cx="3288023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2" type="body"/>
          </p:nvPr>
        </p:nvSpPr>
        <p:spPr>
          <a:xfrm>
            <a:off x="4753737" y="2638044"/>
            <a:ext cx="3290516" cy="3101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 txBox="1"/>
          <p:nvPr>
            <p:ph idx="1" type="body"/>
          </p:nvPr>
        </p:nvSpPr>
        <p:spPr>
          <a:xfrm>
            <a:off x="1102239" y="2313434"/>
            <a:ext cx="3288024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8"/>
          <p:cNvSpPr txBox="1"/>
          <p:nvPr>
            <p:ph idx="2" type="body"/>
          </p:nvPr>
        </p:nvSpPr>
        <p:spPr>
          <a:xfrm>
            <a:off x="1102239" y="3143250"/>
            <a:ext cx="3288024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3" type="body"/>
          </p:nvPr>
        </p:nvSpPr>
        <p:spPr>
          <a:xfrm>
            <a:off x="4753737" y="3143250"/>
            <a:ext cx="3290516" cy="25967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4" type="body"/>
          </p:nvPr>
        </p:nvSpPr>
        <p:spPr>
          <a:xfrm>
            <a:off x="4753737" y="2313434"/>
            <a:ext cx="3290516" cy="704087"/>
          </a:xfrm>
          <a:prstGeom prst="rect">
            <a:avLst/>
          </a:prstGeom>
          <a:noFill/>
          <a:ln>
            <a:noFill/>
          </a:ln>
        </p:spPr>
        <p:txBody>
          <a:bodyPr anchorCtr="1" anchor="b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0" sz="1900" cap="none">
                <a:solidFill>
                  <a:srgbClr val="6B8890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b="1" sz="19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8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8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8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8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0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0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1"/>
          <p:cNvSpPr txBox="1"/>
          <p:nvPr>
            <p:ph type="title"/>
          </p:nvPr>
        </p:nvSpPr>
        <p:spPr>
          <a:xfrm>
            <a:off x="640703" y="2243829"/>
            <a:ext cx="3290594" cy="1141497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100"/>
              <a:buFont typeface="Gill Sans"/>
              <a:buNone/>
              <a:defRPr sz="21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1"/>
          <p:cNvSpPr txBox="1"/>
          <p:nvPr>
            <p:ph idx="1" type="body"/>
          </p:nvPr>
        </p:nvSpPr>
        <p:spPr>
          <a:xfrm>
            <a:off x="5052060" y="804672"/>
            <a:ext cx="3611880" cy="5248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925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indent="-3302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indent="-3302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indent="-3302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indent="-3302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indent="-3302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70" name="Google Shape;70;p11"/>
          <p:cNvSpPr txBox="1"/>
          <p:nvPr>
            <p:ph idx="2" type="body"/>
          </p:nvPr>
        </p:nvSpPr>
        <p:spPr>
          <a:xfrm>
            <a:off x="862965" y="3549918"/>
            <a:ext cx="2846070" cy="2194036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640703" y="6236208"/>
            <a:ext cx="38063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2"/>
          <p:cNvSpPr txBox="1"/>
          <p:nvPr>
            <p:ph type="title"/>
          </p:nvPr>
        </p:nvSpPr>
        <p:spPr>
          <a:xfrm>
            <a:off x="640080" y="2243828"/>
            <a:ext cx="3291840" cy="1143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26262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182875" spcFirstLastPara="1" rIns="182875" wrap="square" tIns="1828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100"/>
              <a:buFont typeface="Gill Sans"/>
              <a:buNone/>
              <a:defRPr sz="21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/>
          <p:nvPr>
            <p:ph idx="2" type="pic"/>
          </p:nvPr>
        </p:nvSpPr>
        <p:spPr>
          <a:xfrm>
            <a:off x="4572000" y="-42172"/>
            <a:ext cx="4576573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78" name="Google Shape;78;p12"/>
          <p:cNvSpPr txBox="1"/>
          <p:nvPr>
            <p:ph idx="1" type="body"/>
          </p:nvPr>
        </p:nvSpPr>
        <p:spPr>
          <a:xfrm>
            <a:off x="862965" y="3549919"/>
            <a:ext cx="2846070" cy="2194037"/>
          </a:xfrm>
          <a:prstGeom prst="rect">
            <a:avLst/>
          </a:prstGeom>
          <a:noFill/>
          <a:ln>
            <a:noFill/>
          </a:ln>
        </p:spPr>
        <p:txBody>
          <a:bodyPr anchorCtr="1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9" name="Google Shape;79;p12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1" type="ftr"/>
          </p:nvPr>
        </p:nvSpPr>
        <p:spPr>
          <a:xfrm>
            <a:off x="640080" y="6236208"/>
            <a:ext cx="380390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3"/>
          <p:cNvSpPr txBox="1"/>
          <p:nvPr>
            <p:ph idx="1" type="body"/>
          </p:nvPr>
        </p:nvSpPr>
        <p:spPr>
          <a:xfrm rot="5400000">
            <a:off x="3023931" y="1220159"/>
            <a:ext cx="3101983" cy="59377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/>
          <p:nvPr>
            <p:ph type="title"/>
          </p:nvPr>
        </p:nvSpPr>
        <p:spPr>
          <a:xfrm rot="5400000">
            <a:off x="4525077" y="2902017"/>
            <a:ext cx="4983480" cy="1053966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4"/>
          <p:cNvSpPr txBox="1"/>
          <p:nvPr>
            <p:ph idx="1" type="body"/>
          </p:nvPr>
        </p:nvSpPr>
        <p:spPr>
          <a:xfrm rot="5400000">
            <a:off x="1472393" y="1070913"/>
            <a:ext cx="4983480" cy="4716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4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4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4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11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10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  <a:defRPr b="0" i="0" sz="2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10" name="Google Shape;10;p1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2F2F2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  <a:defRPr b="0" i="0" sz="2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30200" lvl="1" marL="914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sp>
        <p:nvSpPr>
          <p:cNvPr id="22" name="Google Shape;22;p3"/>
          <p:cNvSpPr/>
          <p:nvPr>
            <p:ph idx="12" type="sldNum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anchorCtr="0" anchor="ctr" bIns="45700" lIns="18275" spcFirstLastPara="1" rIns="1827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11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5" title="Chess-Board-PNG-Imagesd-HD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196526"/>
            <a:ext cx="9144000" cy="9189902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5"/>
          <p:cNvSpPr txBox="1"/>
          <p:nvPr>
            <p:ph type="ctrTitle"/>
          </p:nvPr>
        </p:nvSpPr>
        <p:spPr>
          <a:xfrm>
            <a:off x="1102240" y="2386744"/>
            <a:ext cx="6939520" cy="1645920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1" anchor="ctr" bIns="182875" lIns="274300" spcFirstLastPara="1" rIns="274300" wrap="square" tIns="182875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None/>
            </a:pPr>
            <a:r>
              <a:rPr lang="en-US"/>
              <a:t>DYNAMIC LEARNING CHESS AI WITH ADAPTIVE BEHAVIOUR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GOAL OF THE PROJECT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Build a Chess AI that:</a:t>
            </a:r>
            <a:endParaRPr/>
          </a:p>
          <a:p>
            <a:pPr indent="-342900" lvl="1" marL="5715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Gill Sans"/>
              <a:buAutoNum type="arabicPeriod"/>
            </a:pPr>
            <a:r>
              <a:rPr lang="en-US"/>
              <a:t>Understands board positions numerically (feature extraction)</a:t>
            </a:r>
            <a:endParaRPr/>
          </a:p>
          <a:p>
            <a:pPr indent="-342900" lvl="1" marL="5715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Gill Sans"/>
              <a:buAutoNum type="arabicPeriod"/>
            </a:pPr>
            <a:r>
              <a:rPr lang="en-US"/>
              <a:t>Evaluates positions using a learned function</a:t>
            </a:r>
            <a:endParaRPr/>
          </a:p>
          <a:p>
            <a:pPr indent="-342900" lvl="1" marL="5715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Gill Sans"/>
              <a:buAutoNum type="arabicPeriod"/>
            </a:pPr>
            <a:r>
              <a:rPr lang="en-US"/>
              <a:t>Adapts its play style dynamically based on game outcomes</a:t>
            </a:r>
            <a:endParaRPr/>
          </a:p>
          <a:p>
            <a:pPr indent="-342900" lvl="1" marL="5715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Gill Sans"/>
              <a:buAutoNum type="arabicPeriod"/>
            </a:pPr>
            <a:r>
              <a:rPr lang="en-US"/>
              <a:t>Uses Minimax search to choose moves strategically</a:t>
            </a:r>
            <a:endParaRPr/>
          </a:p>
          <a:p>
            <a:pPr indent="-342900" lvl="1" marL="5715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Font typeface="Gill Sans"/>
              <a:buAutoNum type="arabicPeriod"/>
            </a:pPr>
            <a:r>
              <a:rPr lang="en-US"/>
              <a:t>Learns continuously from new self-play experiences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3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300"/>
                                        <p:tgtEl>
                                          <p:spTgt spid="10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BOARD EVALUATION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Board State s : E(s) (numeric score)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/>
              <a:t>This score tells the engine:</a:t>
            </a:r>
            <a:endParaRPr/>
          </a:p>
          <a:p>
            <a:pPr indent="-514350" lvl="0" marL="5143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romanUcPeriod"/>
            </a:pPr>
            <a:r>
              <a:rPr lang="en-US"/>
              <a:t>How good the position is for white or black</a:t>
            </a:r>
            <a:endParaRPr/>
          </a:p>
          <a:p>
            <a:pPr indent="-514350" lvl="0" marL="51435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romanUcPeriod"/>
            </a:pPr>
            <a:r>
              <a:rPr lang="en-US"/>
              <a:t>Whether the position is winning, losing or equal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1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1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1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200"/>
                                        <p:tgtEl>
                                          <p:spTgt spid="11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FEATURE VECTOR F(S)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457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Gill Sans"/>
              <a:buAutoNum type="arabicPeriod"/>
            </a:pPr>
            <a:r>
              <a:rPr lang="en-US"/>
              <a:t>Material Balance (white - black)</a:t>
            </a:r>
            <a:endParaRPr/>
          </a:p>
          <a:p>
            <a:pPr indent="-4572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arabicPeriod"/>
            </a:pPr>
            <a:r>
              <a:rPr lang="en-US"/>
              <a:t>Mobility (number of legal moves)</a:t>
            </a:r>
            <a:endParaRPr/>
          </a:p>
          <a:p>
            <a:pPr indent="-4572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arabicPeriod"/>
            </a:pPr>
            <a:r>
              <a:rPr lang="en-US"/>
              <a:t>Center Control (occupation of D4, D5, E4, E5)</a:t>
            </a:r>
            <a:endParaRPr/>
          </a:p>
          <a:p>
            <a:pPr indent="-4572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arabicPeriod"/>
            </a:pPr>
            <a:r>
              <a:rPr lang="en-US"/>
              <a:t>King Safety (threat evaluation near king)</a:t>
            </a:r>
            <a:endParaRPr/>
          </a:p>
          <a:p>
            <a:pPr indent="-4572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Font typeface="Gill Sans"/>
              <a:buAutoNum type="arabicPeriod"/>
            </a:pPr>
            <a:r>
              <a:rPr lang="en-US"/>
              <a:t>Pawn Structure (isolated/doubled pawn penalties)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/>
              <a:t>Therefore, f(s)=[f</a:t>
            </a:r>
            <a:r>
              <a:rPr baseline="-25000" lang="en-US"/>
              <a:t>1</a:t>
            </a:r>
            <a:r>
              <a:rPr lang="en-US"/>
              <a:t>(s), f</a:t>
            </a:r>
            <a:r>
              <a:rPr baseline="-25000" lang="en-US"/>
              <a:t>2</a:t>
            </a:r>
            <a:r>
              <a:rPr lang="en-US"/>
              <a:t>(s), f</a:t>
            </a:r>
            <a:r>
              <a:rPr baseline="-25000" lang="en-US"/>
              <a:t>3</a:t>
            </a:r>
            <a:r>
              <a:rPr lang="en-US"/>
              <a:t>(s), f</a:t>
            </a:r>
            <a:r>
              <a:rPr baseline="-25000" lang="en-US"/>
              <a:t>4</a:t>
            </a:r>
            <a:r>
              <a:rPr lang="en-US"/>
              <a:t>(s), f</a:t>
            </a:r>
            <a:r>
              <a:rPr baseline="-25000" lang="en-US"/>
              <a:t>5</a:t>
            </a:r>
            <a:r>
              <a:rPr lang="en-US"/>
              <a:t>(s)]</a:t>
            </a:r>
            <a:r>
              <a:rPr baseline="30000" lang="en-US"/>
              <a:t>T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/>
              <a:t>And, weight vector : W=(w</a:t>
            </a:r>
            <a:r>
              <a:rPr baseline="-25000" lang="en-US"/>
              <a:t>1</a:t>
            </a:r>
            <a:r>
              <a:rPr lang="en-US"/>
              <a:t>, w</a:t>
            </a:r>
            <a:r>
              <a:rPr baseline="-25000" lang="en-US"/>
              <a:t>2</a:t>
            </a:r>
            <a:r>
              <a:rPr lang="en-US"/>
              <a:t>, w</a:t>
            </a:r>
            <a:r>
              <a:rPr baseline="-25000" lang="en-US"/>
              <a:t>3</a:t>
            </a:r>
            <a:r>
              <a:rPr lang="en-US"/>
              <a:t>, w</a:t>
            </a:r>
            <a:r>
              <a:rPr baseline="-25000" lang="en-US"/>
              <a:t>4</a:t>
            </a:r>
            <a:r>
              <a:rPr lang="en-US"/>
              <a:t>, w</a:t>
            </a:r>
            <a:r>
              <a:rPr baseline="-25000" lang="en-US"/>
              <a:t>5</a:t>
            </a:r>
            <a:r>
              <a:rPr lang="en-US"/>
              <a:t>)</a:t>
            </a:r>
            <a:r>
              <a:rPr baseline="30000" lang="en-US"/>
              <a:t>T</a:t>
            </a:r>
            <a:endParaRPr baseline="30000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aseline="30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9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9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EVALUATION FUNCTION</a:t>
            </a:r>
            <a:endParaRPr/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5000"/>
              <a:buNone/>
            </a:pPr>
            <a:r>
              <a:rPr lang="en-US">
                <a:solidFill>
                  <a:schemeClr val="dk1"/>
                </a:solidFill>
              </a:rPr>
              <a:t>                   </a:t>
            </a:r>
            <a:r>
              <a:rPr lang="en-US" sz="2400">
                <a:solidFill>
                  <a:schemeClr val="dk1"/>
                </a:solidFill>
              </a:rPr>
              <a:t>E</a:t>
            </a:r>
            <a:r>
              <a:rPr baseline="-25000" lang="en-US" sz="2400">
                <a:solidFill>
                  <a:schemeClr val="dk1"/>
                </a:solidFill>
              </a:rPr>
              <a:t>W</a:t>
            </a:r>
            <a:r>
              <a:rPr lang="en-US" sz="2400">
                <a:solidFill>
                  <a:schemeClr val="dk1"/>
                </a:solidFill>
              </a:rPr>
              <a:t>(s, x) = Wᵀ· (f(s) × x)</a:t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rPr lang="en-US" sz="1800">
                <a:solidFill>
                  <a:schemeClr val="dk1"/>
                </a:solidFill>
              </a:rPr>
              <a:t>where,      W = weight vector to learn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rPr lang="en-US" sz="1800">
                <a:solidFill>
                  <a:schemeClr val="dk1"/>
                </a:solidFill>
              </a:rPr>
              <a:t>                x = meta-parameter controlling aggression or depth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rPr lang="en-US" sz="1800">
                <a:solidFill>
                  <a:schemeClr val="dk1"/>
                </a:solidFill>
              </a:rPr>
              <a:t>                f(s) = extracted feature vector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rPr lang="en-US" sz="1800">
                <a:solidFill>
                  <a:schemeClr val="dk1"/>
                </a:solidFill>
              </a:rPr>
              <a:t>Here,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1800">
                <a:solidFill>
                  <a:schemeClr val="dk1"/>
                </a:solidFill>
              </a:rPr>
              <a:t>  x</a:t>
            </a:r>
            <a:r>
              <a:rPr lang="en-US">
                <a:solidFill>
                  <a:schemeClr val="dk1"/>
                </a:solidFill>
              </a:rPr>
              <a:t>&gt;</a:t>
            </a:r>
            <a:r>
              <a:rPr lang="en-US" sz="1800">
                <a:solidFill>
                  <a:schemeClr val="dk1"/>
                </a:solidFill>
              </a:rPr>
              <a:t>1 : AI becomes more aggressive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n-US" sz="1800">
                <a:solidFill>
                  <a:schemeClr val="dk1"/>
                </a:solidFill>
              </a:rPr>
              <a:t>  x&lt;1 : AI becomes defensive (plays safely)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1215390" y="966771"/>
            <a:ext cx="6579870" cy="1121577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WHY META-PARAMETER X?</a:t>
            </a:r>
            <a:endParaRPr/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Allows dynamic adjustment of engine style.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High x → more aggressive (material sacrifices allowed).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Low x → positional/safe play.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1225867" y="964398"/>
            <a:ext cx="6520815" cy="1178727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DATASET REPRESENTATION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Let X be feature matrix (N × d).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Let y be evaluation target scores from expert data.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Goal: Learn W such that E(W, x) ≈ y.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LOSS FUNCTION</a:t>
            </a:r>
            <a:endParaRPr/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408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 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GRADIENT OF LOSS</a:t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1550850" y="2697525"/>
            <a:ext cx="6042300" cy="24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204545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          </a:t>
            </a:r>
            <a:endParaRPr sz="18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Where, V is a matrix whose rows are v</a:t>
            </a:r>
            <a:r>
              <a:rPr baseline="-25000"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i </a:t>
            </a:r>
            <a:r>
              <a:rPr baseline="30000"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T</a:t>
            </a: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=(f</a:t>
            </a:r>
            <a:r>
              <a:rPr baseline="-25000"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i </a:t>
            </a: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x)</a:t>
            </a:r>
            <a:r>
              <a:rPr baseline="30000"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T</a:t>
            </a:r>
            <a:endParaRPr baseline="30000" sz="18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lnSpc>
                <a:spcPct val="204545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Note: It is used to update W in optimization process.</a:t>
            </a:r>
            <a:endParaRPr sz="18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48" name="Google Shape;14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4430" y="2554953"/>
            <a:ext cx="3265700" cy="67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1554480" y="964398"/>
            <a:ext cx="6035040" cy="1293028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CONJUGATE GRADIENT OPTIMIZATION</a:t>
            </a:r>
            <a:endParaRPr/>
          </a:p>
        </p:txBody>
      </p:sp>
      <p:sp>
        <p:nvSpPr>
          <p:cNvPr id="154" name="Google Shape;154;p24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Used to iteratively optimize feature weights (W).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Avoids slow convergence of basic Gradient Descent.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Searches along conjugate (non-interfering) directions.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Requires fewer iterations for quadratic loss surfaces.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5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5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5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5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GOLDEN SECTION SEARCH</a:t>
            </a:r>
            <a:endParaRPr/>
          </a:p>
        </p:txBody>
      </p:sp>
      <p:sp>
        <p:nvSpPr>
          <p:cNvPr id="160" name="Google Shape;160;p25"/>
          <p:cNvSpPr txBox="1"/>
          <p:nvPr>
            <p:ph idx="1" type="body"/>
          </p:nvPr>
        </p:nvSpPr>
        <p:spPr>
          <a:xfrm>
            <a:off x="1606045" y="2638045"/>
            <a:ext cx="5937900" cy="31020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-613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 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LINE SEARCH WITH GOLDEN SECTION</a:t>
            </a:r>
            <a:endParaRPr/>
          </a:p>
        </p:txBody>
      </p:sp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To find step size α along search direction d.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φ(α) = Loss(W + αd) minimized using golden ratio.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Does not require derivative of φ(α).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u="sng"/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en-US" u="sng"/>
              <a:t>Note: </a:t>
            </a:r>
            <a:endParaRPr/>
          </a:p>
          <a:p>
            <a:pPr indent="-228600" lvl="1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/>
              <a:t>The loss along one direction is usually a U-shaped curve (meaning it goes down, reaches a lowest point, then goes up)</a:t>
            </a:r>
            <a:endParaRPr/>
          </a:p>
          <a:p>
            <a:pPr indent="-228600" lvl="1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/>
              <a:t>Golden Section Search is </a:t>
            </a:r>
            <a:r>
              <a:rPr b="1" lang="en-US"/>
              <a:t>very good at finding the lowest point of a U-shape curve.</a:t>
            </a:r>
            <a:endParaRPr/>
          </a:p>
          <a:p>
            <a:pPr indent="-1143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6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7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META-PARAMETER OPTIMIZATION</a:t>
            </a:r>
            <a:endParaRPr/>
          </a:p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We treat x as hyperparameter.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Performance(x) = engine win-rate or dataset fit.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Optimal aggressiveness/meta-parameter (x*) found using Golden Section Search again.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7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7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7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FINAL ENGINE EVALUATION</a:t>
            </a:r>
            <a:endParaRPr/>
          </a:p>
        </p:txBody>
      </p:sp>
      <p:sp>
        <p:nvSpPr>
          <p:cNvPr id="178" name="Google Shape;178;p28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Given board state s: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1. Convert to features f(s)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2. Compute E(W*, x*) = W*ᵀ(f(s) × x*)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3. Select move that maximizes evaluation.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9"/>
          <p:cNvSpPr txBox="1"/>
          <p:nvPr>
            <p:ph type="title"/>
          </p:nvPr>
        </p:nvSpPr>
        <p:spPr>
          <a:xfrm>
            <a:off x="356525" y="1069575"/>
            <a:ext cx="3858900" cy="11886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MINIMAX SEARCH</a:t>
            </a:r>
            <a:endParaRPr/>
          </a:p>
        </p:txBody>
      </p:sp>
      <p:sp>
        <p:nvSpPr>
          <p:cNvPr id="184" name="Google Shape;184;p29"/>
          <p:cNvSpPr txBox="1"/>
          <p:nvPr>
            <p:ph idx="1" type="body"/>
          </p:nvPr>
        </p:nvSpPr>
        <p:spPr>
          <a:xfrm>
            <a:off x="356525" y="2816300"/>
            <a:ext cx="3921900" cy="257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Minimax selects the best move by simulating possible future positions.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Maximizing player: tries to maximize evaluation score.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Minimizing player: tries to minimize evaluation score.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Recursively explores game tree up to a fixed depth.</a:t>
            </a:r>
            <a:endParaRPr/>
          </a:p>
        </p:txBody>
      </p:sp>
      <p:sp>
        <p:nvSpPr>
          <p:cNvPr id="185" name="Google Shape;185;p29"/>
          <p:cNvSpPr txBox="1"/>
          <p:nvPr>
            <p:ph type="title"/>
          </p:nvPr>
        </p:nvSpPr>
        <p:spPr>
          <a:xfrm>
            <a:off x="4613950" y="1069575"/>
            <a:ext cx="4110600" cy="11886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USING EVALUATION FUNCTION IN MINIMAX</a:t>
            </a:r>
            <a:endParaRPr/>
          </a:p>
        </p:txBody>
      </p:sp>
      <p:sp>
        <p:nvSpPr>
          <p:cNvPr id="186" name="Google Shape;186;p29"/>
          <p:cNvSpPr txBox="1"/>
          <p:nvPr>
            <p:ph idx="1" type="body"/>
          </p:nvPr>
        </p:nvSpPr>
        <p:spPr>
          <a:xfrm>
            <a:off x="4572000" y="2727200"/>
            <a:ext cx="4456500" cy="27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Leaf nodes (depth = 0 or game over) evaluated using E(W, x).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Minimax propagates these evaluations upward to decide best move.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This links learned evaluation with search algorithm.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8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0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MINIMAX SCALING FOR MOVE SELECTION</a:t>
            </a:r>
            <a:endParaRPr/>
          </a:p>
        </p:txBody>
      </p:sp>
      <p:sp>
        <p:nvSpPr>
          <p:cNvPr id="192" name="Google Shape;192;p30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Raw evaluations may vary widely between positions.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Scaling converts evaluation range to [0, 1] for stable move comparison.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scaled = (eval - min_eval) / (max_eval - min_eval + ε)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Helps avoid bias due to extreme value spikes.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ALPHA-BETA PRUNING</a:t>
            </a:r>
            <a:endParaRPr/>
          </a:p>
        </p:txBody>
      </p:sp>
      <p:sp>
        <p:nvSpPr>
          <p:cNvPr id="198" name="Google Shape;198;p31"/>
          <p:cNvSpPr txBox="1"/>
          <p:nvPr>
            <p:ph idx="1" type="body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Enhances minimax efficiency by eliminating branches.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α (alpha): best value that maximizing player can guarantee.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β (beta): best value that minimizing player can guarantee.</a:t>
            </a:r>
            <a:endParaRPr/>
          </a:p>
          <a:p>
            <a:pPr indent="-2286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 sz="18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If β ≤ α, further branch exploration is unnecessary.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2"/>
          <p:cNvSpPr txBox="1"/>
          <p:nvPr>
            <p:ph type="title"/>
          </p:nvPr>
        </p:nvSpPr>
        <p:spPr>
          <a:xfrm>
            <a:off x="974250" y="934525"/>
            <a:ext cx="7195500" cy="11886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CONTINUOUS ADAPTATION FRAMEWORK</a:t>
            </a:r>
            <a:endParaRPr/>
          </a:p>
        </p:txBody>
      </p:sp>
      <p:sp>
        <p:nvSpPr>
          <p:cNvPr id="204" name="Google Shape;204;p32"/>
          <p:cNvSpPr txBox="1"/>
          <p:nvPr>
            <p:ph idx="1" type="body"/>
          </p:nvPr>
        </p:nvSpPr>
        <p:spPr>
          <a:xfrm>
            <a:off x="983425" y="2358500"/>
            <a:ext cx="7195500" cy="3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22860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95"/>
              <a:t>Process</a:t>
            </a:r>
            <a:r>
              <a:rPr lang="en-US" sz="1495"/>
              <a:t>:</a:t>
            </a:r>
            <a:endParaRPr sz="1495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AI plays games using Minimax + Learned Evaluation Function.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Each move stored as (state, move, reward, next_state) in replay buffer.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Mini-batches sampled periodically for efficient retraining.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Weights (W) updated via Conjugate Gradient optimization.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Meta-parameter (x) fine-tuned through Golden Section Search.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AI dynamically adjusts playstyle:</a:t>
            </a:r>
            <a:endParaRPr sz="1540"/>
          </a:p>
          <a:p>
            <a:pPr indent="-212090" lvl="1" marL="9144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Char char="•"/>
            </a:pPr>
            <a:r>
              <a:rPr lang="en-US" sz="1540"/>
              <a:t>↑ Win rate → More aggressive (x↑)</a:t>
            </a:r>
            <a:endParaRPr sz="1540"/>
          </a:p>
          <a:p>
            <a:pPr indent="-212090" lvl="1" marL="9144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Char char="•"/>
            </a:pPr>
            <a:r>
              <a:rPr lang="en-US" sz="1540"/>
              <a:t>↓ Win rate → More defensive (x↓)</a:t>
            </a:r>
            <a:endParaRPr sz="1540"/>
          </a:p>
          <a:p>
            <a:pPr indent="-212090" lvl="0" marL="685800" rtl="0" algn="l">
              <a:lnSpc>
                <a:spcPct val="80000"/>
              </a:lnSpc>
              <a:spcBef>
                <a:spcPts val="1000"/>
              </a:spcBef>
              <a:spcAft>
                <a:spcPts val="0"/>
              </a:spcAft>
              <a:buSzPts val="1540"/>
              <a:buFont typeface="Gill Sans"/>
              <a:buAutoNum type="arabicPeriod"/>
            </a:pPr>
            <a:r>
              <a:rPr lang="en-US" sz="1540"/>
              <a:t>Ongoing logging of win %, draw %, and avg. moves</a:t>
            </a:r>
            <a:endParaRPr sz="1495"/>
          </a:p>
        </p:txBody>
      </p:sp>
      <p:sp>
        <p:nvSpPr>
          <p:cNvPr id="205" name="Google Shape;205;p32"/>
          <p:cNvSpPr txBox="1"/>
          <p:nvPr/>
        </p:nvSpPr>
        <p:spPr>
          <a:xfrm>
            <a:off x="974275" y="5580420"/>
            <a:ext cx="7195500" cy="8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45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Outcome:</a:t>
            </a:r>
            <a:endParaRPr b="1" sz="145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Enables continuous learning, strategic stability, and adaptive play that evolves with experience.</a:t>
            </a:r>
            <a:endParaRPr sz="15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0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3"/>
          <p:cNvSpPr txBox="1"/>
          <p:nvPr>
            <p:ph type="title"/>
          </p:nvPr>
        </p:nvSpPr>
        <p:spPr>
          <a:xfrm>
            <a:off x="1606045" y="437556"/>
            <a:ext cx="5937900" cy="11886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/>
              <a:t>SCENARIO</a:t>
            </a:r>
            <a:endParaRPr/>
          </a:p>
        </p:txBody>
      </p:sp>
      <p:graphicFrame>
        <p:nvGraphicFramePr>
          <p:cNvPr id="211" name="Google Shape;211;p33"/>
          <p:cNvGraphicFramePr/>
          <p:nvPr/>
        </p:nvGraphicFramePr>
        <p:xfrm>
          <a:off x="939138" y="20478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{B38BE908-93E5-4F32-A6F3-A30CF47D6A0F}</a:tableStyleId>
              </a:tblPr>
              <a:tblGrid>
                <a:gridCol w="2381825"/>
                <a:gridCol w="840025"/>
                <a:gridCol w="815075"/>
                <a:gridCol w="896425"/>
                <a:gridCol w="2338450"/>
              </a:tblGrid>
              <a:tr h="1534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Scenario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Win %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Draw %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Loss %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Avg Moves (Decisive games)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334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Human-like player vs opponent(Static play)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41%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59%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0%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65.49</a:t>
                      </a:r>
                      <a:endParaRPr sz="1200"/>
                    </a:p>
                  </a:txBody>
                  <a:tcPr marT="91425" marB="91425" marR="91425" marL="91425"/>
                </a:tc>
              </a:tr>
              <a:tr h="230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AI vs opponent (adaptive play using meta-parameter tuning)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57%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43%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0%</a:t>
                      </a:r>
                      <a:endParaRPr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41.42</a:t>
                      </a:r>
                      <a:endParaRPr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212" name="Google Shape;212;p33"/>
          <p:cNvSpPr txBox="1"/>
          <p:nvPr/>
        </p:nvSpPr>
        <p:spPr>
          <a:xfrm>
            <a:off x="272150" y="4472614"/>
            <a:ext cx="8605800" cy="21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Gill Sans"/>
              <a:buChar char="●"/>
            </a:pPr>
            <a:r>
              <a:rPr lang="en-U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The Dynamic AI wins 16% more games than the human-controlled player.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Gill Sans"/>
              <a:buChar char="●"/>
            </a:pPr>
            <a:r>
              <a:rPr lang="en-U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It achieves victories with ~37% fewer moves, indicating more efficient and aggressive decision-making.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600"/>
              <a:buFont typeface="Gill Sans"/>
              <a:buChar char="●"/>
            </a:pPr>
            <a:r>
              <a:rPr lang="en-U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The adaptive meta-parameter tuning (x) helps optimize move selection to outplay the opponent faster.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3" name="Google Shape;213;p33"/>
          <p:cNvSpPr txBox="1"/>
          <p:nvPr>
            <p:ph type="title"/>
          </p:nvPr>
        </p:nvSpPr>
        <p:spPr>
          <a:xfrm>
            <a:off x="3769650" y="3859050"/>
            <a:ext cx="1604700" cy="3825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340"/>
              <a:buFont typeface="Gill Sans"/>
              <a:buNone/>
            </a:pPr>
            <a:r>
              <a:rPr lang="en-US" sz="1840"/>
              <a:t>Key Insight</a:t>
            </a:r>
            <a:endParaRPr sz="184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6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2600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CONCLUSION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606050" y="2638051"/>
            <a:ext cx="5937900" cy="3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15900" lvl="0" marL="228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Feature-based evaluation makes engine interpretable.</a:t>
            </a:r>
            <a:endParaRPr sz="1600"/>
          </a:p>
          <a:p>
            <a:pPr indent="-2159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Conjugate Gradient provides efficient weight learning.</a:t>
            </a:r>
            <a:endParaRPr sz="1600"/>
          </a:p>
          <a:p>
            <a:pPr indent="-2159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Meta-parameter x enables adaptive play styles (using Golden Section).</a:t>
            </a:r>
            <a:endParaRPr sz="1600"/>
          </a:p>
          <a:p>
            <a:pPr indent="-215900" lvl="0" marL="2286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Scalable for stronger search algorithms (Alpha-Beta).</a:t>
            </a:r>
            <a:endParaRPr sz="1600"/>
          </a:p>
          <a:p>
            <a:pPr indent="-215900" lvl="0" marL="228600" rtl="0" algn="l">
              <a:spcBef>
                <a:spcPts val="1000"/>
              </a:spcBef>
              <a:spcAft>
                <a:spcPts val="0"/>
              </a:spcAft>
              <a:buSzPts val="1600"/>
              <a:buChar char="•"/>
            </a:pPr>
            <a:r>
              <a:rPr lang="en-US" sz="1600"/>
              <a:t>Empirical results confirm that the adaptive AI consistently outperforms static play strategies, achieving higher win rates and requiring significantly fewer moves to reach victory — validating the effectiveness of our dynamic meta-parameter learning approach.</a:t>
            </a:r>
            <a:endParaRPr sz="1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1590926" y="958691"/>
            <a:ext cx="5937900" cy="1188600"/>
          </a:xfrm>
          <a:prstGeom prst="rect">
            <a:avLst/>
          </a:prstGeom>
          <a:solidFill>
            <a:srgbClr val="FFFFFF"/>
          </a:solidFill>
          <a:ln cap="sq" cmpd="sng" w="31750">
            <a:solidFill>
              <a:srgbClr val="40404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182875" lIns="182875" spcFirstLastPara="1" rIns="182875" wrap="square" tIns="1828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600"/>
              <a:buFont typeface="Gill Sans"/>
              <a:buNone/>
            </a:pPr>
            <a:r>
              <a:rPr lang="en-US" sz="3000"/>
              <a:t>THANK YOU</a:t>
            </a:r>
            <a:endParaRPr sz="3000"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-150" y="3405643"/>
            <a:ext cx="9144000" cy="37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Arghyajit Nayak (431)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Arkoprovo Mondal(409)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Arnadeep Paul (421)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Biswarup Majumdar (414)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Raunak Nandy (425)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Kathakali Sardar (410)</a:t>
            </a:r>
            <a:endParaRPr sz="1600"/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600"/>
              <a:t>Sohini Mandal (444)</a:t>
            </a:r>
            <a:endParaRPr sz="1600"/>
          </a:p>
        </p:txBody>
      </p:sp>
      <p:sp>
        <p:nvSpPr>
          <p:cNvPr id="226" name="Google Shape;226;p35"/>
          <p:cNvSpPr txBox="1"/>
          <p:nvPr/>
        </p:nvSpPr>
        <p:spPr>
          <a:xfrm>
            <a:off x="-125" y="2582140"/>
            <a:ext cx="9144000" cy="42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rgbClr val="262626"/>
                </a:solidFill>
                <a:latin typeface="Comic Sans MS"/>
                <a:ea typeface="Comic Sans MS"/>
                <a:cs typeface="Comic Sans MS"/>
                <a:sym typeface="Comic Sans MS"/>
              </a:rPr>
              <a:t>PRESENTED BY:</a:t>
            </a:r>
            <a:endParaRPr sz="2500">
              <a:solidFill>
                <a:srgbClr val="262626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8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2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6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22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