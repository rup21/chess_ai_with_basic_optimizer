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embeddedFontLst>
    <p:embeddedFont>
      <p:font typeface="Gill Sans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BE908-93E5-4F32-A6F3-A30CF47D6A0F}">
  <a:tblStyle styleId="{B38BE908-93E5-4F32-A6F3-A30CF47D6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1c26d453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a1c26d453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102239" y="2638044"/>
            <a:ext cx="3288023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53737" y="2638044"/>
            <a:ext cx="3290516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1102239" y="3143250"/>
            <a:ext cx="328802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3"/>
          </p:nvPr>
        </p:nvSpPr>
        <p:spPr>
          <a:xfrm>
            <a:off x="4753737" y="3143250"/>
            <a:ext cx="3290516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4"/>
          </p:nvPr>
        </p:nvSpPr>
        <p:spPr>
          <a:xfrm>
            <a:off x="4753737" y="2313434"/>
            <a:ext cx="3290516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640703" y="2243829"/>
            <a:ext cx="3290594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None/>
              <a:defRPr sz="21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5052060" y="804672"/>
            <a:ext cx="361188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2"/>
          </p:nvPr>
        </p:nvSpPr>
        <p:spPr>
          <a:xfrm>
            <a:off x="862965" y="3549918"/>
            <a:ext cx="284607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40703" y="6236208"/>
            <a:ext cx="380639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640080" y="2243828"/>
            <a:ext cx="3291840" cy="11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None/>
              <a:defRPr sz="21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>
            <a:spLocks noGrp="1"/>
          </p:cNvSpPr>
          <p:nvPr>
            <p:ph type="pic" idx="2"/>
          </p:nvPr>
        </p:nvSpPr>
        <p:spPr>
          <a:xfrm>
            <a:off x="4572000" y="-42172"/>
            <a:ext cx="4576573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862965" y="3549919"/>
            <a:ext cx="284607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640080" y="6236208"/>
            <a:ext cx="38039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 rot="5400000">
            <a:off x="3023931" y="1220159"/>
            <a:ext cx="3101983" cy="5937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 rot="5400000">
            <a:off x="4525077" y="2902017"/>
            <a:ext cx="4983480" cy="1053966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 rot="5400000">
            <a:off x="1472393" y="1070913"/>
            <a:ext cx="4983480" cy="4716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  <a:defRPr sz="2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  <a:defRPr sz="2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>
            <a:spLocks noGrp="1"/>
          </p:cNvSpPr>
          <p:nvPr>
            <p:ph type="sldNum" idx="12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title="Chess-Board-PNG-Imagesd-H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96526"/>
            <a:ext cx="9144000" cy="918990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DYNAMIC LEARNING CHESS AI WITH ADAPTIVE BEHAVIOUR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GOAL OF THE PROJECT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Build a Chess AI that:</a:t>
            </a:r>
            <a:endParaRPr/>
          </a:p>
          <a:p>
            <a:pPr marL="5715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lang="en-US"/>
              <a:t>Understands board positions numerically (feature extraction)</a:t>
            </a:r>
            <a:endParaRPr/>
          </a:p>
          <a:p>
            <a:pPr marL="5715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lang="en-US"/>
              <a:t>Evaluates positions using a learned function</a:t>
            </a:r>
            <a:endParaRPr/>
          </a:p>
          <a:p>
            <a:pPr marL="5715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lang="en-US"/>
              <a:t>Adapts its play style dynamically based on game outcomes</a:t>
            </a:r>
            <a:endParaRPr/>
          </a:p>
          <a:p>
            <a:pPr marL="5715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lang="en-US"/>
              <a:t>Uses Minimax search to choose moves strategically</a:t>
            </a:r>
            <a:endParaRPr/>
          </a:p>
          <a:p>
            <a:pPr marL="5715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lang="en-US"/>
              <a:t>Learns continuously from new self-play experiences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"/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/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/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BOARD EVALUATION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Board State s : E(s) (numeric score)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This score tells the engine: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romanUcPeriod"/>
            </a:pPr>
            <a:r>
              <a:rPr lang="en-US"/>
              <a:t>How good the position is for white or black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romanUcPeriod"/>
            </a:pPr>
            <a:r>
              <a:rPr lang="en-US"/>
              <a:t>Whether the position is winning, losing or equal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FEATURE VECTOR F(S)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/>
              <a:t>Material Balance (white - black)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/>
              <a:t>Mobility (number of legal moves)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/>
              <a:t>Center Control (occupation of D4, D5, E4, E5)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/>
              <a:t>King Safety (threat evaluation near king)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/>
              <a:t>Pawn Structure (isolated/doubled pawn penalties)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Therefore, f(s)=[f</a:t>
            </a:r>
            <a:r>
              <a:rPr lang="en-US" baseline="-25000"/>
              <a:t>1</a:t>
            </a:r>
            <a:r>
              <a:rPr lang="en-US"/>
              <a:t>(s), f</a:t>
            </a:r>
            <a:r>
              <a:rPr lang="en-US" baseline="-25000"/>
              <a:t>2</a:t>
            </a:r>
            <a:r>
              <a:rPr lang="en-US"/>
              <a:t>(s), f</a:t>
            </a:r>
            <a:r>
              <a:rPr lang="en-US" baseline="-25000"/>
              <a:t>3</a:t>
            </a:r>
            <a:r>
              <a:rPr lang="en-US"/>
              <a:t>(s), f</a:t>
            </a:r>
            <a:r>
              <a:rPr lang="en-US" baseline="-25000"/>
              <a:t>4</a:t>
            </a:r>
            <a:r>
              <a:rPr lang="en-US"/>
              <a:t>(s), f</a:t>
            </a:r>
            <a:r>
              <a:rPr lang="en-US" baseline="-25000"/>
              <a:t>5</a:t>
            </a:r>
            <a:r>
              <a:rPr lang="en-US"/>
              <a:t>(s)]</a:t>
            </a:r>
            <a:r>
              <a:rPr lang="en-US" baseline="30000"/>
              <a:t>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And, weight vector : W=(w</a:t>
            </a:r>
            <a:r>
              <a:rPr lang="en-US" baseline="-25000"/>
              <a:t>1</a:t>
            </a:r>
            <a:r>
              <a:rPr lang="en-US"/>
              <a:t>, w</a:t>
            </a:r>
            <a:r>
              <a:rPr lang="en-US" baseline="-25000"/>
              <a:t>2</a:t>
            </a:r>
            <a:r>
              <a:rPr lang="en-US"/>
              <a:t>, w</a:t>
            </a:r>
            <a:r>
              <a:rPr lang="en-US" baseline="-25000"/>
              <a:t>3</a:t>
            </a:r>
            <a:r>
              <a:rPr lang="en-US"/>
              <a:t>, w</a:t>
            </a:r>
            <a:r>
              <a:rPr lang="en-US" baseline="-25000"/>
              <a:t>4</a:t>
            </a:r>
            <a:r>
              <a:rPr lang="en-US"/>
              <a:t>, w</a:t>
            </a:r>
            <a:r>
              <a:rPr lang="en-US" baseline="-25000"/>
              <a:t>5</a:t>
            </a:r>
            <a:r>
              <a:rPr lang="en-US"/>
              <a:t>)</a:t>
            </a:r>
            <a:r>
              <a:rPr lang="en-US" baseline="30000"/>
              <a:t>T</a:t>
            </a:r>
            <a:endParaRPr baseline="30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aseline="30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9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EVALUATION FUNCTION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en-US">
                <a:solidFill>
                  <a:schemeClr val="dk1"/>
                </a:solidFill>
              </a:rPr>
              <a:t>                   </a:t>
            </a:r>
            <a:r>
              <a:rPr lang="en-US" sz="2400">
                <a:solidFill>
                  <a:schemeClr val="dk1"/>
                </a:solidFill>
              </a:rPr>
              <a:t>E</a:t>
            </a:r>
            <a:r>
              <a:rPr lang="en-US" sz="2400" baseline="-25000">
                <a:solidFill>
                  <a:schemeClr val="dk1"/>
                </a:solidFill>
              </a:rPr>
              <a:t>W</a:t>
            </a:r>
            <a:r>
              <a:rPr lang="en-US" sz="2400">
                <a:solidFill>
                  <a:schemeClr val="dk1"/>
                </a:solidFill>
              </a:rPr>
              <a:t>(s, x) = Wᵀ· (f(s) × x)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800">
                <a:solidFill>
                  <a:schemeClr val="dk1"/>
                </a:solidFill>
              </a:rPr>
              <a:t>where,      W = weight vector to learn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800">
                <a:solidFill>
                  <a:schemeClr val="dk1"/>
                </a:solidFill>
              </a:rPr>
              <a:t>                x = meta-parameter controlling aggression or depth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800">
                <a:solidFill>
                  <a:schemeClr val="dk1"/>
                </a:solidFill>
              </a:rPr>
              <a:t>                f(s) = extracted feature vector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800">
                <a:solidFill>
                  <a:schemeClr val="dk1"/>
                </a:solidFill>
              </a:rPr>
              <a:t>Here,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chemeClr val="dk1"/>
                </a:solidFill>
              </a:rPr>
              <a:t>  x</a:t>
            </a:r>
            <a:r>
              <a:rPr lang="en-US">
                <a:solidFill>
                  <a:schemeClr val="dk1"/>
                </a:solidFill>
              </a:rPr>
              <a:t>&gt;</a:t>
            </a:r>
            <a:r>
              <a:rPr lang="en-US" sz="1800">
                <a:solidFill>
                  <a:schemeClr val="dk1"/>
                </a:solidFill>
              </a:rPr>
              <a:t>1 : AI becomes more aggressive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chemeClr val="dk1"/>
                </a:solidFill>
              </a:rPr>
              <a:t>  x&lt;1 : AI becomes defensive (plays safely)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1215390" y="966771"/>
            <a:ext cx="6579870" cy="1121577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WHY META-PARAMETER X?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Allows dynamic adjustment of engine style.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High x → more aggressive (material sacrifices allowed).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Low x → positional/safe play.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1225867" y="964398"/>
            <a:ext cx="6520815" cy="1178727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DATASET REPRESENTATION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Let X be feature matrix (N × d).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Let y be evaluation target scores from expert data.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Goal: Learn W such that E(W, x) ≈ 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LOSS FUNCTION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GRADIENT OF LOSS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1550850" y="2697525"/>
            <a:ext cx="6042300" cy="24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204545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Where, V is a matrix whose rows are v</a:t>
            </a:r>
            <a:r>
              <a:rPr lang="en-US" sz="1800" baseline="-25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 </a:t>
            </a:r>
            <a:r>
              <a:rPr lang="en-US" sz="1800" baseline="30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T</a:t>
            </a: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=(f</a:t>
            </a:r>
            <a:r>
              <a:rPr lang="en-US" sz="1800" baseline="-25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 </a:t>
            </a: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x)</a:t>
            </a:r>
            <a:r>
              <a:rPr lang="en-US" sz="1800" baseline="30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T</a:t>
            </a:r>
            <a:endParaRPr sz="1800" baseline="30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lnSpc>
                <a:spcPct val="204545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Note: It is used to update W in optimization process.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4430" y="2554953"/>
            <a:ext cx="3265700" cy="6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1554480" y="964398"/>
            <a:ext cx="6035040" cy="129302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CONJUGATE GRADIENT OPTIMIZATION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Used to iteratively optimize feature weights (W).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Avoids slow convergence of basic Gradient Descent.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Searches along conjugate (non-interfering) directions.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Requires fewer iterations for quadratic loss surfaces.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GOLDEN SECTION SEARCH</a:t>
            </a:r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900" cy="3102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LINE SEARCH WITH GOLDEN SECTION</a:t>
            </a:r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 find step size α along search direction d.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φ(α) = Loss(W + αd) minimized using golden ratio.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Does not require derivative of φ(α).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u="sng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Note: </a:t>
            </a:r>
            <a:endParaRPr/>
          </a:p>
          <a:p>
            <a:pPr marL="4572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The loss along one direction is usually a U-shaped curve (meaning it goes down, reaches a lowest point, then goes up)</a:t>
            </a:r>
            <a:endParaRPr/>
          </a:p>
          <a:p>
            <a:pPr marL="4572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Golden Section Search is </a:t>
            </a:r>
            <a:r>
              <a:rPr lang="en-US" b="1"/>
              <a:t>very good at finding the lowest point of a U-shape curve.</a:t>
            </a:r>
            <a:endParaRPr/>
          </a:p>
          <a:p>
            <a:pPr marL="228600" lvl="0" indent="-114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4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/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8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/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META-PARAMETER OPTIMIZATION</a:t>
            </a:r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treat x as hyperparameter.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Performance(x) = engine win-rate or dataset fit.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Optimal aggressiveness/meta-parameter (x*) found using Golden Section Search again.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FINAL ENGINE EVALUATION</a:t>
            </a:r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Given board state s: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1. Convert to features f(s)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2. Compute E(W*, x*) = W*ᵀ(f(s) × x*)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 Select move that maximizes evaluation.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356525" y="1069575"/>
            <a:ext cx="38589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MINIMAX SEARCH</a:t>
            </a:r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body" idx="1"/>
          </p:nvPr>
        </p:nvSpPr>
        <p:spPr>
          <a:xfrm>
            <a:off x="356525" y="2816300"/>
            <a:ext cx="3921900" cy="25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Minimax selects the best move by simulating possible future positions.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Maximizing player: tries to maximize evaluation score.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Minimizing player: tries to minimize evaluation score.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Recursively explores game tree up to a fixed depth.</a:t>
            </a:r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title"/>
          </p:nvPr>
        </p:nvSpPr>
        <p:spPr>
          <a:xfrm>
            <a:off x="4613950" y="1069575"/>
            <a:ext cx="41106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USING EVALUATION FUNCTION IN MINIMAX</a:t>
            </a:r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body" idx="1"/>
          </p:nvPr>
        </p:nvSpPr>
        <p:spPr>
          <a:xfrm>
            <a:off x="4572000" y="2727200"/>
            <a:ext cx="4456500" cy="27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Leaf nodes (depth = 0 or game over) evaluated using E(W, x).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Minimax propagates these evaluations upward to decide best move.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This links learned evaluation with search algorithm.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/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4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MINIMAX SCALING FOR MOVE SELECTION</a:t>
            </a:r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Raw evaluations may vary widely between positions.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Scaling converts evaluation range to [0, 1] for stable move comparison.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scaled = (eval - min_eval) / (max_eval - min_eval + ε)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Helps avoid bias due to extreme value spikes.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ALPHA-BETA PRUNING</a:t>
            </a:r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Enhances minimax efficiency by eliminating branches.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α (alpha): best value that maximizing player can guarantee.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β (beta): best value that minimizing player can guarantee.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If β ≤ α, further branch exploration is unnecessary.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>
            <a:spLocks noGrp="1"/>
          </p:cNvSpPr>
          <p:nvPr>
            <p:ph type="title"/>
          </p:nvPr>
        </p:nvSpPr>
        <p:spPr>
          <a:xfrm>
            <a:off x="974250" y="934525"/>
            <a:ext cx="7195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CONTINUOUS ADAPTATION FRAMEWORK</a:t>
            </a:r>
            <a:endParaRPr/>
          </a:p>
        </p:txBody>
      </p:sp>
      <p:sp>
        <p:nvSpPr>
          <p:cNvPr id="204" name="Google Shape;204;p32"/>
          <p:cNvSpPr txBox="1">
            <a:spLocks noGrp="1"/>
          </p:cNvSpPr>
          <p:nvPr>
            <p:ph type="body" idx="1"/>
          </p:nvPr>
        </p:nvSpPr>
        <p:spPr>
          <a:xfrm>
            <a:off x="983425" y="2358500"/>
            <a:ext cx="7195500" cy="3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5" b="1"/>
              <a:t>Process</a:t>
            </a:r>
            <a:r>
              <a:rPr lang="en-US" sz="1495"/>
              <a:t>:</a:t>
            </a:r>
            <a:endParaRPr sz="1495"/>
          </a:p>
          <a:p>
            <a:pPr marL="685800" lvl="0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AutoNum type="arabicPeriod"/>
            </a:pPr>
            <a:r>
              <a:rPr lang="en-US" sz="1540"/>
              <a:t>AI plays games using Minimax + Learned Evaluation Function.</a:t>
            </a:r>
            <a:endParaRPr sz="1540"/>
          </a:p>
          <a:p>
            <a:pPr marL="685800" lvl="0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AutoNum type="arabicPeriod"/>
            </a:pPr>
            <a:r>
              <a:rPr lang="en-US" sz="1540"/>
              <a:t>Each move stored as (state, move, reward, next_state) in replay buffer.</a:t>
            </a:r>
            <a:endParaRPr sz="1540"/>
          </a:p>
          <a:p>
            <a:pPr marL="685800" lvl="0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AutoNum type="arabicPeriod"/>
            </a:pPr>
            <a:r>
              <a:rPr lang="en-US" sz="1540"/>
              <a:t>Mini-batches sampled periodically for efficient retraining.</a:t>
            </a:r>
            <a:endParaRPr sz="1540"/>
          </a:p>
          <a:p>
            <a:pPr marL="685800" lvl="0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AutoNum type="arabicPeriod"/>
            </a:pPr>
            <a:r>
              <a:rPr lang="en-US" sz="1540"/>
              <a:t>Weights (W) updated via Conjugate Gradient optimization.</a:t>
            </a:r>
            <a:endParaRPr sz="1540"/>
          </a:p>
          <a:p>
            <a:pPr marL="685800" lvl="0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AutoNum type="arabicPeriod"/>
            </a:pPr>
            <a:r>
              <a:rPr lang="en-US" sz="1540"/>
              <a:t>Meta-parameter (x) fine-tuned through Golden Section Search.</a:t>
            </a:r>
            <a:endParaRPr sz="1540"/>
          </a:p>
          <a:p>
            <a:pPr marL="685800" lvl="0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AutoNum type="arabicPeriod"/>
            </a:pPr>
            <a:r>
              <a:rPr lang="en-US" sz="1540"/>
              <a:t>AI dynamically adjusts playstyle:</a:t>
            </a:r>
            <a:endParaRPr sz="1540"/>
          </a:p>
          <a:p>
            <a:pPr marL="914400" lvl="1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Char char="•"/>
            </a:pPr>
            <a:r>
              <a:rPr lang="en-US" sz="1540"/>
              <a:t>↑ Win rate → More aggressive (x↑)</a:t>
            </a:r>
            <a:endParaRPr sz="1540"/>
          </a:p>
          <a:p>
            <a:pPr marL="914400" lvl="1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Char char="•"/>
            </a:pPr>
            <a:r>
              <a:rPr lang="en-US" sz="1540"/>
              <a:t>↓ Win rate → More defensive (x↓)</a:t>
            </a:r>
            <a:endParaRPr sz="1540"/>
          </a:p>
          <a:p>
            <a:pPr marL="685800" lvl="0" indent="-21209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40"/>
              <a:buFont typeface="Gill Sans"/>
              <a:buAutoNum type="arabicPeriod"/>
            </a:pPr>
            <a:r>
              <a:rPr lang="en-US" sz="1540"/>
              <a:t>Ongoing logging of win %, draw %, and avg. moves</a:t>
            </a:r>
            <a:endParaRPr sz="1495"/>
          </a:p>
        </p:txBody>
      </p:sp>
      <p:sp>
        <p:nvSpPr>
          <p:cNvPr id="205" name="Google Shape;205;p32"/>
          <p:cNvSpPr txBox="1"/>
          <p:nvPr/>
        </p:nvSpPr>
        <p:spPr>
          <a:xfrm>
            <a:off x="974275" y="5580420"/>
            <a:ext cx="71955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 b="1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Outcome:</a:t>
            </a:r>
            <a:endParaRPr sz="1450" b="1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Enables continuous learning, strategic stability, and adaptive play that evolves with experience.</a:t>
            </a:r>
            <a:endParaRPr sz="15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/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/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4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/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8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/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/>
                                        <p:tgtEl>
                                          <p:spTgt spid="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/>
                                        <p:tgtEl>
                                          <p:spTgt spid="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1606045" y="437556"/>
            <a:ext cx="59379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/>
              <a:t>SCENARIO</a:t>
            </a:r>
            <a:endParaRPr/>
          </a:p>
        </p:txBody>
      </p:sp>
      <p:graphicFrame>
        <p:nvGraphicFramePr>
          <p:cNvPr id="211" name="Google Shape;211;p33"/>
          <p:cNvGraphicFramePr/>
          <p:nvPr/>
        </p:nvGraphicFramePr>
        <p:xfrm>
          <a:off x="939138" y="204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{B38BE908-93E5-4F32-A6F3-A30CF47D6A0F}</a:tableStyleId>
              </a:tblPr>
              <a:tblGrid>
                <a:gridCol w="238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Scenario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Win %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Draw %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Loss %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Avg Moves (Decisive games)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Human-like player vs opponent(Static play)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41%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59%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0%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65.49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AI vs opponent (adaptive play using meta-parameter tuning)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57%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43%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0%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41.42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2" name="Google Shape;212;p33"/>
          <p:cNvSpPr txBox="1"/>
          <p:nvPr/>
        </p:nvSpPr>
        <p:spPr>
          <a:xfrm>
            <a:off x="272150" y="4472614"/>
            <a:ext cx="8605800" cy="21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The Dynamic AI wins 16% more games than the human-controlled player.</a:t>
            </a:r>
            <a:endParaRPr sz="16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It achieves victories with ~37% fewer moves, indicating more efficient and aggressive decision-making.</a:t>
            </a:r>
            <a:endParaRPr sz="16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The adaptive meta-parameter tuning (x) helps optimize move selection to outplay the opponent faster.</a:t>
            </a:r>
            <a:endParaRPr sz="16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3" name="Google Shape;213;p33"/>
          <p:cNvSpPr txBox="1">
            <a:spLocks noGrp="1"/>
          </p:cNvSpPr>
          <p:nvPr>
            <p:ph type="title"/>
          </p:nvPr>
        </p:nvSpPr>
        <p:spPr>
          <a:xfrm>
            <a:off x="3769650" y="3859050"/>
            <a:ext cx="1604700" cy="3825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40"/>
              <a:buFont typeface="Gill Sans"/>
              <a:buNone/>
            </a:pPr>
            <a:r>
              <a:rPr lang="en-US" sz="1840"/>
              <a:t>Key Insight</a:t>
            </a:r>
            <a:endParaRPr sz="184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2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/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en-US" sz="26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CONCLUSION</a:t>
            </a:r>
            <a:endParaRPr/>
          </a:p>
        </p:txBody>
      </p:sp>
      <p:sp>
        <p:nvSpPr>
          <p:cNvPr id="219" name="Google Shape;219;p34"/>
          <p:cNvSpPr txBox="1">
            <a:spLocks noGrp="1"/>
          </p:cNvSpPr>
          <p:nvPr>
            <p:ph type="body" idx="1"/>
          </p:nvPr>
        </p:nvSpPr>
        <p:spPr>
          <a:xfrm>
            <a:off x="1606050" y="2638051"/>
            <a:ext cx="5937900" cy="3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 dirty="0"/>
              <a:t>Feature-based evaluation makes engine interpretable.</a:t>
            </a:r>
            <a:endParaRPr sz="1600" dirty="0"/>
          </a:p>
          <a:p>
            <a:pPr marL="228600" lvl="0" indent="-215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Conjugate Gradient provides efficient weight learning.</a:t>
            </a:r>
            <a:endParaRPr sz="1600"/>
          </a:p>
          <a:p>
            <a:pPr marL="228600" lvl="0" indent="-215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 dirty="0"/>
              <a:t>Meta-parameter x enables adaptive play styles (using Golden Section).</a:t>
            </a:r>
            <a:endParaRPr sz="1600" dirty="0"/>
          </a:p>
          <a:p>
            <a:pPr marL="228600" lvl="0" indent="-215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 dirty="0"/>
              <a:t>Scalable for stronger search algorithms (Alpha-Beta).</a:t>
            </a:r>
            <a:endParaRPr sz="1600" dirty="0"/>
          </a:p>
          <a:p>
            <a:pPr marL="228600" lvl="0" indent="-215900" algn="l" rtl="0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 dirty="0"/>
              <a:t>Empirical results confirm that the adaptive AI consistently outperforms static play strategies, achieving higher win rates and requiring significantly fewer moves to reach victory — validating the effectiveness of our dynamic meta-parameter learning approach.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/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Microsoft Office PowerPoint</Application>
  <PresentationFormat>On-screen Show (4:3)</PresentationFormat>
  <Paragraphs>128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Gill Sans</vt:lpstr>
      <vt:lpstr>Arial</vt:lpstr>
      <vt:lpstr>Parcel</vt:lpstr>
      <vt:lpstr>Parcel</vt:lpstr>
      <vt:lpstr>DYNAMIC LEARNING CHESS AI WITH ADAPTIVE BEHAVIOUR</vt:lpstr>
      <vt:lpstr>GOAL OF THE PROJECT</vt:lpstr>
      <vt:lpstr>BOARD EVALUATION</vt:lpstr>
      <vt:lpstr>FEATURE VECTOR F(S)</vt:lpstr>
      <vt:lpstr>EVALUATION FUNCTION</vt:lpstr>
      <vt:lpstr>WHY META-PARAMETER X?</vt:lpstr>
      <vt:lpstr>DATASET REPRESENTATION</vt:lpstr>
      <vt:lpstr>LOSS FUNCTION</vt:lpstr>
      <vt:lpstr>GRADIENT OF LOSS</vt:lpstr>
      <vt:lpstr>CONJUGATE GRADIENT OPTIMIZATION</vt:lpstr>
      <vt:lpstr>GOLDEN SECTION SEARCH</vt:lpstr>
      <vt:lpstr>LINE SEARCH WITH GOLDEN SECTION</vt:lpstr>
      <vt:lpstr>META-PARAMETER OPTIMIZATION</vt:lpstr>
      <vt:lpstr>FINAL ENGINE EVALUATION</vt:lpstr>
      <vt:lpstr>MINIMAX SEARCH</vt:lpstr>
      <vt:lpstr>MINIMAX SCALING FOR MOVE SELECTION</vt:lpstr>
      <vt:lpstr>ALPHA-BETA PRUNING</vt:lpstr>
      <vt:lpstr>CONTINUOUS ADAPTATION FRAMEWORK</vt:lpstr>
      <vt:lpstr>SCENARIO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BISWARUP MAJUMDAR</cp:lastModifiedBy>
  <cp:revision>1</cp:revision>
  <dcterms:modified xsi:type="dcterms:W3CDTF">2025-12-27T06:55:31Z</dcterms:modified>
</cp:coreProperties>
</file>